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4" r:id="rId8"/>
    <p:sldId id="265" r:id="rId9"/>
    <p:sldId id="268" r:id="rId10"/>
    <p:sldId id="267" r:id="rId11"/>
    <p:sldId id="266"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2E77-61F0-5B3F-27A1-6ED022DA53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8308FA-3F67-2E32-983D-220D6A6702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73064A-7D3F-F738-A113-C099C1E9EB4E}"/>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5FAE9499-101A-E821-C413-4373AE28F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440BC2-72E4-88D2-851D-95702F8AE110}"/>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700890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F6684-E107-45AA-75FC-D42861FA09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805A89-4B55-4DC3-F718-3CC0B5399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D6167F-8C22-1840-DFC9-8464F48F5D7F}"/>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F2B6E245-D8AE-9E25-F838-121D7EAD0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FF7FC6-7F37-FF6C-B847-1C5227E152B7}"/>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3222141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7BAC4-2F88-9315-9051-121943D84D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A76376-E3C0-CB4B-AC08-047E1915D9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570D0A-16BE-91BB-C011-F8C105F88793}"/>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3132C35E-12D0-D26D-8274-12CD099AF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2F3916-ACC7-6CF6-5FF8-134287E61F9B}"/>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3531546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0799-3DF6-7105-D65D-4A2C27029C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15445E-E2F2-7047-429B-59D48E4253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461B6F-21D7-447F-BF74-4BEE86ABBF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DE2FC0-B9DF-DA9F-806A-C615C6C3063E}"/>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6" name="Footer Placeholder 5">
            <a:extLst>
              <a:ext uri="{FF2B5EF4-FFF2-40B4-BE49-F238E27FC236}">
                <a16:creationId xmlns:a16="http://schemas.microsoft.com/office/drawing/2014/main" id="{C900811A-9489-1693-8457-438A145EF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D7DA3D-EE91-4105-B564-0E165F2A3D25}"/>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1085415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86DA7-CF22-18E0-B6D4-BAC4149549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C3DE192-BA2A-56E1-7F9A-704B4AE2D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9EE682-98FE-4ED0-82B9-D8B8989A4D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46509C-E9EF-8E61-F3DD-0241F1505B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F36004-4BBC-F8F2-1224-9A2CCE0935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48C91E-EC83-5175-C30D-7851E71DBB47}"/>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8" name="Footer Placeholder 7">
            <a:extLst>
              <a:ext uri="{FF2B5EF4-FFF2-40B4-BE49-F238E27FC236}">
                <a16:creationId xmlns:a16="http://schemas.microsoft.com/office/drawing/2014/main" id="{BF0C1FEA-BDB7-3562-D619-6AEE269758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65BA51-9744-D013-2332-D7BC80DE06AD}"/>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2164757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6BFFE-AE29-2BB1-7318-B3E42B158F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454DF5-0511-4E3B-B9E8-BA5B8D60FBAB}"/>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4" name="Footer Placeholder 3">
            <a:extLst>
              <a:ext uri="{FF2B5EF4-FFF2-40B4-BE49-F238E27FC236}">
                <a16:creationId xmlns:a16="http://schemas.microsoft.com/office/drawing/2014/main" id="{A85BB334-DD5B-537E-B253-8B275BC29F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C57377-187F-5FA6-DC27-E678762DC403}"/>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2006311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F7EBE1-731E-2D23-621E-43E46C450CBD}"/>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3" name="Footer Placeholder 2">
            <a:extLst>
              <a:ext uri="{FF2B5EF4-FFF2-40B4-BE49-F238E27FC236}">
                <a16:creationId xmlns:a16="http://schemas.microsoft.com/office/drawing/2014/main" id="{819048C5-8441-0F40-F228-9F1BA3E920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2212F8-89F1-B5C7-F330-16A6C4233D40}"/>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3147523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FCB7-246E-279E-66D8-AC464976C1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D3992D0-FD8D-C67C-FAF6-B4E314442B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6F04BC1-1FBD-B217-2183-017B1411E4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B3B15D-9328-0495-0BA6-4C92DA43D87A}"/>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6" name="Footer Placeholder 5">
            <a:extLst>
              <a:ext uri="{FF2B5EF4-FFF2-40B4-BE49-F238E27FC236}">
                <a16:creationId xmlns:a16="http://schemas.microsoft.com/office/drawing/2014/main" id="{88266670-0181-B2F8-5168-3AFB29C19F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024801-675D-DD65-BB85-A5556701C7B2}"/>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2832464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B2D6-BD27-88E3-FA6D-30D0C1EDAE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147548-5713-2B4D-D3BC-8B8A0BF46D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B93A39-68E2-E13A-9F17-B84D303C82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B4EAD1-3729-1FA1-F632-DB3E011B545D}"/>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6" name="Footer Placeholder 5">
            <a:extLst>
              <a:ext uri="{FF2B5EF4-FFF2-40B4-BE49-F238E27FC236}">
                <a16:creationId xmlns:a16="http://schemas.microsoft.com/office/drawing/2014/main" id="{4F434687-8938-54D6-82A9-0A316FB8B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06A6CF-34C5-3853-4B32-29C63ACD634F}"/>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1357047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2F25-046E-ED46-528D-14D7AAB217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D6EDA1-6587-B9B3-0542-E514A54698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7E572-6B3C-23B5-9E1D-A72CA4232AB2}"/>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66B02320-1444-117E-15F5-83DD8FCBD3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93036-ADD8-A886-6502-12393E38BE91}"/>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1606136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594F6-1FD7-EA6A-55D0-2DBE0AD076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C454CA-892B-9D73-C66F-840089340F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5C650D-8884-37F0-5BA3-8F4FA6EBC27E}"/>
              </a:ext>
            </a:extLst>
          </p:cNvPr>
          <p:cNvSpPr>
            <a:spLocks noGrp="1"/>
          </p:cNvSpPr>
          <p:nvPr>
            <p:ph type="dt" sz="half" idx="10"/>
          </p:nvPr>
        </p:nvSpPr>
        <p:spPr/>
        <p:txBody>
          <a:body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71F90E9A-28CC-7206-6B6A-788A94A85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8AEC7-601C-FCD3-8C06-65080EC19DF2}"/>
              </a:ext>
            </a:extLst>
          </p:cNvPr>
          <p:cNvSpPr>
            <a:spLocks noGrp="1"/>
          </p:cNvSpPr>
          <p:nvPr>
            <p:ph type="sldNum" sz="quarter" idx="12"/>
          </p:nvPr>
        </p:nvSpPr>
        <p:spPr/>
        <p:txBody>
          <a:bodyPr/>
          <a:lstStyle/>
          <a:p>
            <a:fld id="{83E22F35-C7A6-4709-952F-33B9D231F7DB}" type="slidenum">
              <a:rPr lang="en-US" smtClean="0"/>
              <a:t>‹#›</a:t>
            </a:fld>
            <a:endParaRPr lang="en-US"/>
          </a:p>
        </p:txBody>
      </p:sp>
    </p:spTree>
    <p:extLst>
      <p:ext uri="{BB962C8B-B14F-4D97-AF65-F5344CB8AC3E}">
        <p14:creationId xmlns:p14="http://schemas.microsoft.com/office/powerpoint/2010/main" val="2913270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196439-B183-F11A-71D6-1E542D75BD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A302BD-0E94-BDAB-FBFD-A1CC125FF5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4EDAE1-4E7C-1F74-B268-7A8468266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ADC769-A1A5-48BC-B256-2A2C18EDCD20}" type="datetimeFigureOut">
              <a:rPr lang="en-US" smtClean="0"/>
              <a:t>2/16/2026</a:t>
            </a:fld>
            <a:endParaRPr lang="en-US"/>
          </a:p>
        </p:txBody>
      </p:sp>
      <p:sp>
        <p:nvSpPr>
          <p:cNvPr id="5" name="Footer Placeholder 4">
            <a:extLst>
              <a:ext uri="{FF2B5EF4-FFF2-40B4-BE49-F238E27FC236}">
                <a16:creationId xmlns:a16="http://schemas.microsoft.com/office/drawing/2014/main" id="{3FE1533E-1884-5441-11D5-D5D139EB2A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4D071F-BB5E-8242-9A5B-41E7D78948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E22F35-C7A6-4709-952F-33B9D231F7DB}" type="slidenum">
              <a:rPr lang="en-US" smtClean="0"/>
              <a:t>‹#›</a:t>
            </a:fld>
            <a:endParaRPr lang="en-US"/>
          </a:p>
        </p:txBody>
      </p:sp>
    </p:spTree>
    <p:extLst>
      <p:ext uri="{BB962C8B-B14F-4D97-AF65-F5344CB8AC3E}">
        <p14:creationId xmlns:p14="http://schemas.microsoft.com/office/powerpoint/2010/main" val="3089740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scholar.google.com/" TargetMode="External"/><Relationship Id="rId2" Type="http://schemas.openxmlformats.org/officeDocument/2006/relationships/hyperlink" Target="https://chatgpt.com/" TargetMode="External"/><Relationship Id="rId1" Type="http://schemas.openxmlformats.org/officeDocument/2006/relationships/slideLayout" Target="../slideLayouts/slideLayout6.xml"/><Relationship Id="rId5" Type="http://schemas.openxmlformats.org/officeDocument/2006/relationships/hyperlink" Target="https://www.wikipedia.org/" TargetMode="External"/><Relationship Id="rId4" Type="http://schemas.openxmlformats.org/officeDocument/2006/relationships/hyperlink" Target="https://www.deepseek.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4D8E3-5135-0731-4EC6-C5690C1D62BC}"/>
              </a:ext>
            </a:extLst>
          </p:cNvPr>
          <p:cNvSpPr>
            <a:spLocks noGrp="1"/>
          </p:cNvSpPr>
          <p:nvPr>
            <p:ph type="ctrTitle"/>
          </p:nvPr>
        </p:nvSpPr>
        <p:spPr>
          <a:xfrm>
            <a:off x="2243795" y="0"/>
            <a:ext cx="7704407" cy="1494228"/>
          </a:xfrm>
        </p:spPr>
        <p:txBody>
          <a:bodyPr>
            <a:normAutofit fontScale="90000"/>
          </a:bodyPr>
          <a:lstStyle/>
          <a:p>
            <a:r>
              <a:rPr lang="en-US" sz="6600" dirty="0">
                <a:latin typeface="Times New Roman" panose="02020603050405020304" pitchFamily="18" charset="0"/>
                <a:cs typeface="Times New Roman" panose="02020603050405020304" pitchFamily="18" charset="0"/>
              </a:rPr>
              <a:t>Mortality Data Analyzer</a:t>
            </a:r>
          </a:p>
        </p:txBody>
      </p:sp>
      <p:sp>
        <p:nvSpPr>
          <p:cNvPr id="6" name="Subtitle 2">
            <a:extLst>
              <a:ext uri="{FF2B5EF4-FFF2-40B4-BE49-F238E27FC236}">
                <a16:creationId xmlns:a16="http://schemas.microsoft.com/office/drawing/2014/main" id="{329164D8-EDAB-B43F-1570-1776FB8F6EA3}"/>
              </a:ext>
            </a:extLst>
          </p:cNvPr>
          <p:cNvSpPr txBox="1">
            <a:spLocks/>
          </p:cNvSpPr>
          <p:nvPr/>
        </p:nvSpPr>
        <p:spPr>
          <a:xfrm>
            <a:off x="800319" y="1729457"/>
            <a:ext cx="10591360" cy="4515487"/>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latin typeface="Times New Roman" panose="02020603050405020304" pitchFamily="18" charset="0"/>
                <a:cs typeface="Times New Roman" panose="02020603050405020304" pitchFamily="18" charset="0"/>
              </a:rPr>
              <a:t>A presentation for computer project</a:t>
            </a:r>
          </a:p>
          <a:p>
            <a:r>
              <a:rPr lang="en-US" sz="3200" dirty="0">
                <a:latin typeface="Times New Roman" panose="02020603050405020304" pitchFamily="18" charset="0"/>
                <a:cs typeface="Times New Roman" panose="02020603050405020304" pitchFamily="18" charset="0"/>
              </a:rPr>
              <a:t>Pawan Ghimire-16</a:t>
            </a:r>
          </a:p>
          <a:p>
            <a:r>
              <a:rPr lang="en-US" sz="3200" dirty="0">
                <a:latin typeface="Times New Roman" panose="02020603050405020304" pitchFamily="18" charset="0"/>
                <a:cs typeface="Times New Roman" panose="02020603050405020304" pitchFamily="18" charset="0"/>
              </a:rPr>
              <a:t>Pawan Poudel-17</a:t>
            </a:r>
          </a:p>
          <a:p>
            <a:r>
              <a:rPr lang="en-US" sz="3200" dirty="0">
                <a:latin typeface="Times New Roman" panose="02020603050405020304" pitchFamily="18" charset="0"/>
                <a:cs typeface="Times New Roman" panose="02020603050405020304" pitchFamily="18" charset="0"/>
              </a:rPr>
              <a:t>Pradhumna Shrestha-18</a:t>
            </a:r>
          </a:p>
          <a:p>
            <a:endParaRPr lang="en-US" sz="3200" dirty="0">
              <a:latin typeface="Times New Roman" panose="02020603050405020304" pitchFamily="18" charset="0"/>
              <a:cs typeface="Times New Roman" panose="02020603050405020304" pitchFamily="18" charset="0"/>
            </a:endParaRP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School Of Mathematical Sciences</a:t>
            </a:r>
          </a:p>
          <a:p>
            <a:r>
              <a:rPr lang="en-US" sz="3200" dirty="0" err="1">
                <a:latin typeface="Times New Roman" panose="02020603050405020304" pitchFamily="18" charset="0"/>
                <a:cs typeface="Times New Roman" panose="02020603050405020304" pitchFamily="18" charset="0"/>
              </a:rPr>
              <a:t>Balkhu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Kritipur</a:t>
            </a:r>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2082</a:t>
            </a:r>
          </a:p>
        </p:txBody>
      </p:sp>
    </p:spTree>
    <p:extLst>
      <p:ext uri="{BB962C8B-B14F-4D97-AF65-F5344CB8AC3E}">
        <p14:creationId xmlns:p14="http://schemas.microsoft.com/office/powerpoint/2010/main" val="3390306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F986B-4F30-D650-D1D0-DE1D142CF652}"/>
              </a:ext>
            </a:extLst>
          </p:cNvPr>
          <p:cNvSpPr>
            <a:spLocks noGrp="1"/>
          </p:cNvSpPr>
          <p:nvPr>
            <p:ph type="title"/>
          </p:nvPr>
        </p:nvSpPr>
        <p:spPr>
          <a:xfrm>
            <a:off x="838200" y="266651"/>
            <a:ext cx="10515600" cy="1325563"/>
          </a:xfrm>
        </p:spPr>
        <p:txBody>
          <a:bodyPr>
            <a:normAutofit/>
          </a:bodyPr>
          <a:lstStyle/>
          <a:p>
            <a:pPr algn="ctr"/>
            <a:r>
              <a:rPr lang="en-US" sz="4800" b="1" dirty="0">
                <a:latin typeface="Times New Roman" panose="02020603050405020304" pitchFamily="18" charset="0"/>
                <a:cs typeface="Times New Roman" panose="02020603050405020304" pitchFamily="18" charset="0"/>
              </a:rPr>
              <a:t>Content</a:t>
            </a:r>
          </a:p>
        </p:txBody>
      </p:sp>
      <p:sp>
        <p:nvSpPr>
          <p:cNvPr id="3" name="Content Placeholder 2">
            <a:extLst>
              <a:ext uri="{FF2B5EF4-FFF2-40B4-BE49-F238E27FC236}">
                <a16:creationId xmlns:a16="http://schemas.microsoft.com/office/drawing/2014/main" id="{94CC7437-5DA3-3E9E-802A-E1D481CA141D}"/>
              </a:ext>
            </a:extLst>
          </p:cNvPr>
          <p:cNvSpPr>
            <a:spLocks noGrp="1"/>
          </p:cNvSpPr>
          <p:nvPr>
            <p:ph idx="1"/>
          </p:nvPr>
        </p:nvSpPr>
        <p:spPr>
          <a:xfrm>
            <a:off x="838200" y="1566643"/>
            <a:ext cx="10515600" cy="4351338"/>
          </a:xfrm>
        </p:spPr>
        <p:txBody>
          <a:bodyPr>
            <a:normAutofit lnSpcReduction="10000"/>
          </a:bodyPr>
          <a:lstStyle/>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Problem statement </a:t>
            </a:r>
          </a:p>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Scope and limitations</a:t>
            </a:r>
          </a:p>
          <a:p>
            <a:r>
              <a:rPr lang="en-US" dirty="0">
                <a:latin typeface="Times New Roman" panose="02020603050405020304" pitchFamily="18" charset="0"/>
                <a:cs typeface="Times New Roman" panose="02020603050405020304" pitchFamily="18" charset="0"/>
              </a:rPr>
              <a:t> Implementation tools and technologies</a:t>
            </a:r>
          </a:p>
          <a:p>
            <a:r>
              <a:rPr lang="en-US" dirty="0">
                <a:latin typeface="Times New Roman" panose="02020603050405020304" pitchFamily="18" charset="0"/>
                <a:cs typeface="Times New Roman" panose="02020603050405020304" pitchFamily="18" charset="0"/>
              </a:rPr>
              <a:t> Flowchart of the system</a:t>
            </a:r>
          </a:p>
          <a:p>
            <a:r>
              <a:rPr lang="en-US" dirty="0">
                <a:latin typeface="Times New Roman" panose="02020603050405020304" pitchFamily="18" charset="0"/>
                <a:cs typeface="Times New Roman" panose="02020603050405020304" pitchFamily="18" charset="0"/>
              </a:rPr>
              <a:t> Conclusion </a:t>
            </a:r>
          </a:p>
          <a:p>
            <a:r>
              <a:rPr lang="en-US" dirty="0">
                <a:latin typeface="Times New Roman" panose="02020603050405020304" pitchFamily="18" charset="0"/>
                <a:cs typeface="Times New Roman" panose="02020603050405020304" pitchFamily="18" charset="0"/>
              </a:rPr>
              <a:t>Screenshots of the system</a:t>
            </a:r>
          </a:p>
          <a:p>
            <a:r>
              <a:rPr lang="en-US" dirty="0">
                <a:latin typeface="Times New Roman" panose="02020603050405020304" pitchFamily="18" charset="0"/>
                <a:cs typeface="Times New Roman" panose="02020603050405020304" pitchFamily="18" charset="0"/>
              </a:rPr>
              <a:t> References</a:t>
            </a:r>
          </a:p>
        </p:txBody>
      </p:sp>
    </p:spTree>
    <p:extLst>
      <p:ext uri="{BB962C8B-B14F-4D97-AF65-F5344CB8AC3E}">
        <p14:creationId xmlns:p14="http://schemas.microsoft.com/office/powerpoint/2010/main" val="439933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10F8C-21CD-BC4F-1A84-5D792C969D1C}"/>
              </a:ext>
            </a:extLst>
          </p:cNvPr>
          <p:cNvSpPr>
            <a:spLocks noGrp="1"/>
          </p:cNvSpPr>
          <p:nvPr>
            <p:ph type="title"/>
          </p:nvPr>
        </p:nvSpPr>
        <p:spPr>
          <a:xfrm>
            <a:off x="838199" y="150593"/>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19305DE6-AEA1-A248-E14B-9B5DBAAD9C4A}"/>
              </a:ext>
            </a:extLst>
          </p:cNvPr>
          <p:cNvSpPr txBox="1"/>
          <p:nvPr/>
        </p:nvSpPr>
        <p:spPr>
          <a:xfrm>
            <a:off x="482990" y="1349547"/>
            <a:ext cx="11226019" cy="4955203"/>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This project presents a Python-based actuarial analysis system developed to study mortality patterns using real-world patient data stored in an Excel dataset.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objective of the project is to apply actuarial and statistical techniques to:</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Estimate short-term mortality probabilities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seasonal mortality trends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Construct a simplified actuarial life table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Automate reporting and visualization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0249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2047-0AE9-E0B2-F6BC-945BEB77E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C82AB-C47B-9037-6966-C10DD11D0C85}"/>
              </a:ext>
            </a:extLst>
          </p:cNvPr>
          <p:cNvSpPr>
            <a:spLocks noGrp="1"/>
          </p:cNvSpPr>
          <p:nvPr>
            <p:ph type="title"/>
          </p:nvPr>
        </p:nvSpPr>
        <p:spPr>
          <a:xfrm>
            <a:off x="838199" y="122458"/>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644D31EA-7839-7111-3A24-13FB596E51F8}"/>
              </a:ext>
            </a:extLst>
          </p:cNvPr>
          <p:cNvSpPr txBox="1"/>
          <p:nvPr/>
        </p:nvSpPr>
        <p:spPr>
          <a:xfrm>
            <a:off x="482989" y="1293276"/>
            <a:ext cx="11226019" cy="680186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We are given a dataset containing: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Patient ID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Age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Disease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Infection Month</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Death Indicator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Years Until Death</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We need to:</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Determine short-term mortality probabilities for specific age groups and diseases.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Analyze whether mortality risk varies seasonally.</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Construct a simplified life table from empirical data.</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Automate reporting and visualization of results.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33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EB07-A81B-7CBD-08C0-F60081E9A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2A2C2-420E-C047-D7C8-ABDE16109CFE}"/>
              </a:ext>
            </a:extLst>
          </p:cNvPr>
          <p:cNvSpPr>
            <a:spLocks noGrp="1"/>
          </p:cNvSpPr>
          <p:nvPr>
            <p:ph type="title"/>
          </p:nvPr>
        </p:nvSpPr>
        <p:spPr>
          <a:xfrm>
            <a:off x="838196" y="-323557"/>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4F4EE430-EC4D-D66A-6307-CDE8B8F6FEE4}"/>
              </a:ext>
            </a:extLst>
          </p:cNvPr>
          <p:cNvSpPr txBox="1"/>
          <p:nvPr/>
        </p:nvSpPr>
        <p:spPr>
          <a:xfrm>
            <a:off x="482987" y="519555"/>
            <a:ext cx="11226019" cy="7786747"/>
          </a:xfrm>
          <a:prstGeom prst="rect">
            <a:avLst/>
          </a:prstGeom>
          <a:noFill/>
        </p:spPr>
        <p:txBody>
          <a:bodyPr wrap="square" rtlCol="0">
            <a:spAutoFit/>
          </a:bodyPr>
          <a:lstStyle/>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Estimate Conditional Mortality Probability:</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Calculate probability of death within 1, 2, and 3 years</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Based on selected age band and disease</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 short-term risk assessment</a:t>
            </a:r>
          </a:p>
          <a:p>
            <a:pPr marL="914400" lvl="1"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Analyze Seasonal Mortality Trends:</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Measure mortality rate by infection month</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Identify possible seasonal patterns in death occurrence</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 epidemiological insights</a:t>
            </a:r>
          </a:p>
          <a:p>
            <a:pPr marL="914400" lvl="1"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Construct a Simplified Life Table:</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Compute mortality rate (</a:t>
            </a:r>
            <a:r>
              <a:rPr lang="en-US" sz="2000" dirty="0" err="1">
                <a:latin typeface="Times New Roman" panose="02020603050405020304" pitchFamily="18" charset="0"/>
                <a:cs typeface="Times New Roman" panose="02020603050405020304" pitchFamily="18" charset="0"/>
              </a:rPr>
              <a:t>qx</a:t>
            </a:r>
            <a:r>
              <a:rPr lang="en-US" sz="20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Estimate survivors (lx)</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Estimate deaths (dx)</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Simulate actuarial survival modeling</a:t>
            </a:r>
          </a:p>
          <a:p>
            <a:pPr marL="914400" lvl="1"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dirty="0">
                <a:latin typeface="Times New Roman" panose="02020603050405020304" pitchFamily="18" charset="0"/>
                <a:cs typeface="Times New Roman" panose="02020603050405020304" pitchFamily="18" charset="0"/>
              </a:rPr>
              <a:t>Automate Reporting and Visualization:</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Export structured results to Excel</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 graphical representations</a:t>
            </a:r>
          </a:p>
          <a:p>
            <a:pPr marL="914400" lvl="1" indent="-4572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professional and reusable output</a:t>
            </a:r>
          </a:p>
          <a:p>
            <a:pPr marL="914400" lvl="1" indent="-4572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62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F0374-FA40-981E-9421-DEF346D1F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4C5E3-3CD6-C731-CAB5-B76A959A46FA}"/>
              </a:ext>
            </a:extLst>
          </p:cNvPr>
          <p:cNvSpPr>
            <a:spLocks noGrp="1"/>
          </p:cNvSpPr>
          <p:nvPr>
            <p:ph type="title"/>
          </p:nvPr>
        </p:nvSpPr>
        <p:spPr>
          <a:xfrm>
            <a:off x="838197" y="-114300"/>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Scope And Limitations</a:t>
            </a:r>
          </a:p>
        </p:txBody>
      </p:sp>
      <p:sp>
        <p:nvSpPr>
          <p:cNvPr id="4" name="TextBox 3">
            <a:extLst>
              <a:ext uri="{FF2B5EF4-FFF2-40B4-BE49-F238E27FC236}">
                <a16:creationId xmlns:a16="http://schemas.microsoft.com/office/drawing/2014/main" id="{7A504A9F-8388-CC60-5902-53774B60F01E}"/>
              </a:ext>
            </a:extLst>
          </p:cNvPr>
          <p:cNvSpPr txBox="1"/>
          <p:nvPr/>
        </p:nvSpPr>
        <p:spPr>
          <a:xfrm>
            <a:off x="482988" y="1102578"/>
            <a:ext cx="11226019" cy="57554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Scope of project</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Mortality Probability Estimation : Calculates conditional probability of death within 1, 2, and 3 years based on age band and disease.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Seasonal Mortality Analysis : Evaluates mortality rates by infection month to identify possible seasonal trends.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Life Table Construction : Builds a simplified actuarial life table including mortality rate (</a:t>
            </a:r>
            <a:r>
              <a:rPr lang="en-US" sz="2400" dirty="0" err="1">
                <a:latin typeface="Times New Roman" panose="02020603050405020304" pitchFamily="18" charset="0"/>
                <a:cs typeface="Times New Roman" panose="02020603050405020304" pitchFamily="18" charset="0"/>
              </a:rPr>
              <a:t>qx</a:t>
            </a:r>
            <a:r>
              <a:rPr lang="en-US" sz="2400" dirty="0">
                <a:latin typeface="Times New Roman" panose="02020603050405020304" pitchFamily="18" charset="0"/>
                <a:cs typeface="Times New Roman" panose="02020603050405020304" pitchFamily="18" charset="0"/>
              </a:rPr>
              <a:t>), survivors (lx), and deaths (dx).</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Automated Data Processing : Reads Excel datasets, processes records efficiently, and organizes structured outputs.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Visualization and Reporting : Generates graphical outputs and exports results to Excel for professional presentation and analysis.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993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D5A2-FE72-AC18-F7BF-68440DFAFD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C2BEA3-FD41-4518-A580-81A63D2979AD}"/>
              </a:ext>
            </a:extLst>
          </p:cNvPr>
          <p:cNvSpPr txBox="1"/>
          <p:nvPr/>
        </p:nvSpPr>
        <p:spPr>
          <a:xfrm>
            <a:off x="482990" y="889843"/>
            <a:ext cx="11226019" cy="581697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Limitations of the project:</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Simplified Exposure Calculation : Uses number of records as exposure instead of full </a:t>
            </a:r>
            <a:r>
              <a:rPr lang="en-US" sz="2400" dirty="0" err="1">
                <a:latin typeface="Times New Roman" panose="02020603050405020304" pitchFamily="18" charset="0"/>
                <a:cs typeface="Times New Roman" panose="02020603050405020304" pitchFamily="18" charset="0"/>
              </a:rPr>
              <a:t>acturial</a:t>
            </a:r>
            <a:r>
              <a:rPr lang="en-US" sz="2400" dirty="0">
                <a:latin typeface="Times New Roman" panose="02020603050405020304" pitchFamily="18" charset="0"/>
                <a:cs typeface="Times New Roman" panose="02020603050405020304" pitchFamily="18" charset="0"/>
              </a:rPr>
              <a:t> person-years estimation.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Time Horizon : Focuses only on 3-year mortality and does not model lifetime survival.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Financial Modeling : Does not include discounting, present value, or premium calculation.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Dataset Dependency : Accuracy depends on the quality and size of the input dataset which is small.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Advanced Statistical Models : Does not incorporate confidence intervals, regression models, or advanced survival analysis techniques.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Machine learning and AI models: Does not use any ML and AI models.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599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B8858-4A3D-6EE3-03BF-B2A8206C7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5407-5409-B320-95BB-FC53798F840D}"/>
              </a:ext>
            </a:extLst>
          </p:cNvPr>
          <p:cNvSpPr>
            <a:spLocks noGrp="1"/>
          </p:cNvSpPr>
          <p:nvPr>
            <p:ph type="title"/>
          </p:nvPr>
        </p:nvSpPr>
        <p:spPr>
          <a:xfrm>
            <a:off x="838195" y="20827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 Tools and Technologies</a:t>
            </a:r>
          </a:p>
        </p:txBody>
      </p:sp>
      <p:sp>
        <p:nvSpPr>
          <p:cNvPr id="4" name="TextBox 3">
            <a:extLst>
              <a:ext uri="{FF2B5EF4-FFF2-40B4-BE49-F238E27FC236}">
                <a16:creationId xmlns:a16="http://schemas.microsoft.com/office/drawing/2014/main" id="{3CB31C38-BA0D-4604-F1D6-6CE714023783}"/>
              </a:ext>
            </a:extLst>
          </p:cNvPr>
          <p:cNvSpPr txBox="1"/>
          <p:nvPr/>
        </p:nvSpPr>
        <p:spPr>
          <a:xfrm>
            <a:off x="482985" y="1673327"/>
            <a:ext cx="11226019" cy="3785652"/>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Python : Core language for data processing, calculations, and automation.</a:t>
            </a:r>
          </a:p>
          <a:p>
            <a:pPr marL="457200" indent="-457200">
              <a:lnSpc>
                <a:spcPct val="150000"/>
              </a:lnSpc>
              <a:buFont typeface="+mj-lt"/>
              <a:buAutoNum type="arabicPeriod"/>
            </a:pPr>
            <a:r>
              <a:rPr lang="en-US" sz="2400" dirty="0" err="1">
                <a:latin typeface="Times New Roman" panose="02020603050405020304" pitchFamily="18" charset="0"/>
                <a:cs typeface="Times New Roman" panose="02020603050405020304" pitchFamily="18" charset="0"/>
              </a:rPr>
              <a:t>openpyxl</a:t>
            </a:r>
            <a:r>
              <a:rPr lang="en-US" sz="2400" dirty="0">
                <a:latin typeface="Times New Roman" panose="02020603050405020304" pitchFamily="18" charset="0"/>
                <a:cs typeface="Times New Roman" panose="02020603050405020304" pitchFamily="18" charset="0"/>
              </a:rPr>
              <a:t> : Handles Excel file reading and writing.</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Matplotlib : Creates visualizations and graphs for analysis.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Object-Oriented Programming (OOP) : Ensures modular and scalable code structure.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Excel Dataset (.xlsx) ; Provides structured patient mortality data for analysis.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3774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A0B37-7C29-5100-C2DC-5E3B8721D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CB82A-98AF-267C-2CAD-14F6959B6AC3}"/>
              </a:ext>
            </a:extLst>
          </p:cNvPr>
          <p:cNvSpPr>
            <a:spLocks noGrp="1"/>
          </p:cNvSpPr>
          <p:nvPr>
            <p:ph type="title"/>
          </p:nvPr>
        </p:nvSpPr>
        <p:spPr>
          <a:xfrm>
            <a:off x="838200" y="-21420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Flowchart</a:t>
            </a:r>
          </a:p>
        </p:txBody>
      </p:sp>
      <p:sp>
        <p:nvSpPr>
          <p:cNvPr id="5" name="Oval 4">
            <a:extLst>
              <a:ext uri="{FF2B5EF4-FFF2-40B4-BE49-F238E27FC236}">
                <a16:creationId xmlns:a16="http://schemas.microsoft.com/office/drawing/2014/main" id="{9230C92D-A5AA-8948-57B0-5946F2B812B2}"/>
              </a:ext>
            </a:extLst>
          </p:cNvPr>
          <p:cNvSpPr/>
          <p:nvPr/>
        </p:nvSpPr>
        <p:spPr>
          <a:xfrm>
            <a:off x="5471160" y="723827"/>
            <a:ext cx="1249680" cy="6471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Start</a:t>
            </a:r>
            <a:r>
              <a:rPr lang="en-US" dirty="0"/>
              <a:t>t</a:t>
            </a:r>
          </a:p>
        </p:txBody>
      </p:sp>
      <p:sp>
        <p:nvSpPr>
          <p:cNvPr id="6" name="Rectangle 5">
            <a:extLst>
              <a:ext uri="{FF2B5EF4-FFF2-40B4-BE49-F238E27FC236}">
                <a16:creationId xmlns:a16="http://schemas.microsoft.com/office/drawing/2014/main" id="{91B51497-E330-EE08-89C0-16E039DB4DD4}"/>
              </a:ext>
            </a:extLst>
          </p:cNvPr>
          <p:cNvSpPr/>
          <p:nvPr/>
        </p:nvSpPr>
        <p:spPr>
          <a:xfrm>
            <a:off x="5118352" y="1647825"/>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Loading/Import</a:t>
            </a:r>
          </a:p>
        </p:txBody>
      </p:sp>
      <p:sp>
        <p:nvSpPr>
          <p:cNvPr id="7" name="Rectangle 6">
            <a:extLst>
              <a:ext uri="{FF2B5EF4-FFF2-40B4-BE49-F238E27FC236}">
                <a16:creationId xmlns:a16="http://schemas.microsoft.com/office/drawing/2014/main" id="{29FCFB16-813E-D694-005E-F41B75139380}"/>
              </a:ext>
            </a:extLst>
          </p:cNvPr>
          <p:cNvSpPr/>
          <p:nvPr/>
        </p:nvSpPr>
        <p:spPr>
          <a:xfrm>
            <a:off x="5118352" y="2455048"/>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Load Excel : Read and store</a:t>
            </a:r>
          </a:p>
        </p:txBody>
      </p:sp>
      <p:sp>
        <p:nvSpPr>
          <p:cNvPr id="8" name="Rectangle 7">
            <a:extLst>
              <a:ext uri="{FF2B5EF4-FFF2-40B4-BE49-F238E27FC236}">
                <a16:creationId xmlns:a16="http://schemas.microsoft.com/office/drawing/2014/main" id="{AC9472CD-8C04-AEC5-76CF-FF0AB3AA394E}"/>
              </a:ext>
            </a:extLst>
          </p:cNvPr>
          <p:cNvSpPr/>
          <p:nvPr/>
        </p:nvSpPr>
        <p:spPr>
          <a:xfrm>
            <a:off x="5112609" y="3241627"/>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Inputs: Age and disease</a:t>
            </a:r>
          </a:p>
        </p:txBody>
      </p:sp>
      <p:sp>
        <p:nvSpPr>
          <p:cNvPr id="9" name="Rectangle 8">
            <a:extLst>
              <a:ext uri="{FF2B5EF4-FFF2-40B4-BE49-F238E27FC236}">
                <a16:creationId xmlns:a16="http://schemas.microsoft.com/office/drawing/2014/main" id="{2D80B1E9-B66D-E6A8-9DDF-3B4D520EFD2C}"/>
              </a:ext>
            </a:extLst>
          </p:cNvPr>
          <p:cNvSpPr/>
          <p:nvPr/>
        </p:nvSpPr>
        <p:spPr>
          <a:xfrm rot="2657291">
            <a:off x="5668282" y="4217534"/>
            <a:ext cx="914400" cy="9144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D78FD49-BA39-C9DE-E634-08BE822C0768}"/>
              </a:ext>
            </a:extLst>
          </p:cNvPr>
          <p:cNvSpPr txBox="1"/>
          <p:nvPr/>
        </p:nvSpPr>
        <p:spPr>
          <a:xfrm>
            <a:off x="5610722" y="4261837"/>
            <a:ext cx="1041009" cy="646331"/>
          </a:xfrm>
          <a:prstGeom prst="rect">
            <a:avLst/>
          </a:prstGeom>
          <a:noFill/>
        </p:spPr>
        <p:txBody>
          <a:bodyPr wrap="square" rtlCol="0">
            <a:spAutoFit/>
          </a:bodyPr>
          <a:lstStyle/>
          <a:p>
            <a:pPr algn="ctr"/>
            <a:r>
              <a:rPr lang="en-US" dirty="0"/>
              <a:t>In Dataset?</a:t>
            </a:r>
          </a:p>
        </p:txBody>
      </p:sp>
      <p:sp>
        <p:nvSpPr>
          <p:cNvPr id="11" name="Oval 10">
            <a:extLst>
              <a:ext uri="{FF2B5EF4-FFF2-40B4-BE49-F238E27FC236}">
                <a16:creationId xmlns:a16="http://schemas.microsoft.com/office/drawing/2014/main" id="{D38B6A26-3435-56CA-E473-53F89316DB65}"/>
              </a:ext>
            </a:extLst>
          </p:cNvPr>
          <p:cNvSpPr/>
          <p:nvPr/>
        </p:nvSpPr>
        <p:spPr>
          <a:xfrm>
            <a:off x="5471160" y="5810613"/>
            <a:ext cx="1249680" cy="647119"/>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End</a:t>
            </a:r>
            <a:r>
              <a:rPr lang="en-US" dirty="0"/>
              <a:t>t</a:t>
            </a:r>
          </a:p>
        </p:txBody>
      </p:sp>
      <p:sp>
        <p:nvSpPr>
          <p:cNvPr id="13" name="Rectangle 12">
            <a:extLst>
              <a:ext uri="{FF2B5EF4-FFF2-40B4-BE49-F238E27FC236}">
                <a16:creationId xmlns:a16="http://schemas.microsoft.com/office/drawing/2014/main" id="{41A8E6AD-C791-F133-9C45-595A19BDC902}"/>
              </a:ext>
            </a:extLst>
          </p:cNvPr>
          <p:cNvSpPr/>
          <p:nvPr/>
        </p:nvSpPr>
        <p:spPr>
          <a:xfrm>
            <a:off x="716601" y="1578788"/>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Age Band</a:t>
            </a:r>
          </a:p>
        </p:txBody>
      </p:sp>
      <p:sp>
        <p:nvSpPr>
          <p:cNvPr id="14" name="Rectangle 13">
            <a:extLst>
              <a:ext uri="{FF2B5EF4-FFF2-40B4-BE49-F238E27FC236}">
                <a16:creationId xmlns:a16="http://schemas.microsoft.com/office/drawing/2014/main" id="{83BADD70-9F9D-914E-71B2-DA111225344A}"/>
              </a:ext>
            </a:extLst>
          </p:cNvPr>
          <p:cNvSpPr/>
          <p:nvPr/>
        </p:nvSpPr>
        <p:spPr>
          <a:xfrm>
            <a:off x="716601" y="2391235"/>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Death probability</a:t>
            </a:r>
          </a:p>
          <a:p>
            <a:pPr algn="ctr"/>
            <a:r>
              <a:rPr lang="en-US" dirty="0">
                <a:solidFill>
                  <a:schemeClr val="tx1"/>
                </a:solidFill>
              </a:rPr>
              <a:t>1-3 yrs</a:t>
            </a:r>
          </a:p>
        </p:txBody>
      </p:sp>
      <p:sp>
        <p:nvSpPr>
          <p:cNvPr id="15" name="Rectangle 14">
            <a:extLst>
              <a:ext uri="{FF2B5EF4-FFF2-40B4-BE49-F238E27FC236}">
                <a16:creationId xmlns:a16="http://schemas.microsoft.com/office/drawing/2014/main" id="{C170F695-1197-B97E-733A-CDA8A11D5938}"/>
              </a:ext>
            </a:extLst>
          </p:cNvPr>
          <p:cNvSpPr/>
          <p:nvPr/>
        </p:nvSpPr>
        <p:spPr>
          <a:xfrm>
            <a:off x="716601" y="3198140"/>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Analysis</a:t>
            </a:r>
          </a:p>
        </p:txBody>
      </p:sp>
      <p:sp>
        <p:nvSpPr>
          <p:cNvPr id="16" name="Rectangle 15">
            <a:extLst>
              <a:ext uri="{FF2B5EF4-FFF2-40B4-BE49-F238E27FC236}">
                <a16:creationId xmlns:a16="http://schemas.microsoft.com/office/drawing/2014/main" id="{851C7731-35CF-6FDB-28A2-4492E976E043}"/>
              </a:ext>
            </a:extLst>
          </p:cNvPr>
          <p:cNvSpPr/>
          <p:nvPr/>
        </p:nvSpPr>
        <p:spPr>
          <a:xfrm>
            <a:off x="579816" y="3994212"/>
            <a:ext cx="2299315" cy="72929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Life table (</a:t>
            </a:r>
            <a:r>
              <a:rPr lang="en-US" dirty="0" err="1">
                <a:solidFill>
                  <a:schemeClr val="tx1"/>
                </a:solidFill>
              </a:rPr>
              <a:t>qx,lx,dx</a:t>
            </a:r>
            <a:r>
              <a:rPr lang="en-US" dirty="0">
                <a:solidFill>
                  <a:schemeClr val="tx1"/>
                </a:solidFill>
              </a:rPr>
              <a:t>)</a:t>
            </a:r>
          </a:p>
          <a:p>
            <a:pPr algn="ctr"/>
            <a:r>
              <a:rPr lang="en-US" dirty="0">
                <a:solidFill>
                  <a:schemeClr val="tx1"/>
                </a:solidFill>
              </a:rPr>
              <a:t>And graphs</a:t>
            </a:r>
          </a:p>
        </p:txBody>
      </p:sp>
      <p:sp>
        <p:nvSpPr>
          <p:cNvPr id="17" name="Rectangle 16">
            <a:extLst>
              <a:ext uri="{FF2B5EF4-FFF2-40B4-BE49-F238E27FC236}">
                <a16:creationId xmlns:a16="http://schemas.microsoft.com/office/drawing/2014/main" id="{91B7B7EB-6A52-2FFA-5A29-E30699B200B4}"/>
              </a:ext>
            </a:extLst>
          </p:cNvPr>
          <p:cNvSpPr/>
          <p:nvPr/>
        </p:nvSpPr>
        <p:spPr>
          <a:xfrm>
            <a:off x="8909169" y="1630359"/>
            <a:ext cx="2025748" cy="53457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error</a:t>
            </a:r>
          </a:p>
        </p:txBody>
      </p:sp>
      <p:cxnSp>
        <p:nvCxnSpPr>
          <p:cNvPr id="19" name="Straight Arrow Connector 18">
            <a:extLst>
              <a:ext uri="{FF2B5EF4-FFF2-40B4-BE49-F238E27FC236}">
                <a16:creationId xmlns:a16="http://schemas.microsoft.com/office/drawing/2014/main" id="{2B7E7587-76BA-1B74-F746-6324DCD92C9D}"/>
              </a:ext>
            </a:extLst>
          </p:cNvPr>
          <p:cNvCxnSpPr>
            <a:cxnSpLocks/>
            <a:endCxn id="6" idx="0"/>
          </p:cNvCxnSpPr>
          <p:nvPr/>
        </p:nvCxnSpPr>
        <p:spPr>
          <a:xfrm>
            <a:off x="6131226" y="1375492"/>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F88300B-0883-2B42-400D-C04DD0D6ACBF}"/>
              </a:ext>
            </a:extLst>
          </p:cNvPr>
          <p:cNvCxnSpPr>
            <a:cxnSpLocks/>
          </p:cNvCxnSpPr>
          <p:nvPr/>
        </p:nvCxnSpPr>
        <p:spPr>
          <a:xfrm>
            <a:off x="6131226" y="2182397"/>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DE12C45E-F483-AC38-EA36-E8EA2C605486}"/>
              </a:ext>
            </a:extLst>
          </p:cNvPr>
          <p:cNvCxnSpPr>
            <a:cxnSpLocks/>
          </p:cNvCxnSpPr>
          <p:nvPr/>
        </p:nvCxnSpPr>
        <p:spPr>
          <a:xfrm>
            <a:off x="6131226" y="2989620"/>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CDAF252-877A-68C6-1995-18DFA4F927F3}"/>
              </a:ext>
            </a:extLst>
          </p:cNvPr>
          <p:cNvCxnSpPr>
            <a:cxnSpLocks/>
          </p:cNvCxnSpPr>
          <p:nvPr/>
        </p:nvCxnSpPr>
        <p:spPr>
          <a:xfrm>
            <a:off x="6125483" y="3776199"/>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9E465F31-C991-97E9-22D6-8BDBCC43E1D3}"/>
              </a:ext>
            </a:extLst>
          </p:cNvPr>
          <p:cNvCxnSpPr/>
          <p:nvPr/>
        </p:nvCxnSpPr>
        <p:spPr>
          <a:xfrm flipH="1">
            <a:off x="4363453" y="4674734"/>
            <a:ext cx="1107707"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97636100-F25D-E1A0-8A8C-AF0286EC923B}"/>
              </a:ext>
            </a:extLst>
          </p:cNvPr>
          <p:cNvCxnSpPr/>
          <p:nvPr/>
        </p:nvCxnSpPr>
        <p:spPr>
          <a:xfrm flipH="1">
            <a:off x="6772011" y="4674734"/>
            <a:ext cx="1107707" cy="0"/>
          </a:xfrm>
          <a:prstGeom prst="line">
            <a:avLst/>
          </a:prstGeom>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1780E794-C6E2-6A2B-D69E-E4F2500999DE}"/>
              </a:ext>
            </a:extLst>
          </p:cNvPr>
          <p:cNvCxnSpPr/>
          <p:nvPr/>
        </p:nvCxnSpPr>
        <p:spPr>
          <a:xfrm flipV="1">
            <a:off x="4363453" y="1897645"/>
            <a:ext cx="0" cy="2777089"/>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12525B66-CBA2-971A-E443-4623FA2A54DB}"/>
              </a:ext>
            </a:extLst>
          </p:cNvPr>
          <p:cNvCxnSpPr/>
          <p:nvPr/>
        </p:nvCxnSpPr>
        <p:spPr>
          <a:xfrm flipV="1">
            <a:off x="7879718" y="1897644"/>
            <a:ext cx="0" cy="2777089"/>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737D83FD-D86D-925D-44C2-FED37B8B151B}"/>
              </a:ext>
            </a:extLst>
          </p:cNvPr>
          <p:cNvCxnSpPr/>
          <p:nvPr/>
        </p:nvCxnSpPr>
        <p:spPr>
          <a:xfrm flipH="1">
            <a:off x="2742349" y="1915111"/>
            <a:ext cx="162110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A0C9750E-AC58-143C-3CDA-D1E5B6EA4273}"/>
              </a:ext>
            </a:extLst>
          </p:cNvPr>
          <p:cNvCxnSpPr>
            <a:endCxn id="17" idx="1"/>
          </p:cNvCxnSpPr>
          <p:nvPr/>
        </p:nvCxnSpPr>
        <p:spPr>
          <a:xfrm flipV="1">
            <a:off x="7879718" y="1897645"/>
            <a:ext cx="1029451" cy="17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868F24B8-58A1-3105-01B9-ABE63CAA558D}"/>
              </a:ext>
            </a:extLst>
          </p:cNvPr>
          <p:cNvCxnSpPr>
            <a:cxnSpLocks/>
          </p:cNvCxnSpPr>
          <p:nvPr/>
        </p:nvCxnSpPr>
        <p:spPr>
          <a:xfrm>
            <a:off x="1692511" y="2113360"/>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04028C1-1DF8-37D7-2B4A-CE464F914FAB}"/>
              </a:ext>
            </a:extLst>
          </p:cNvPr>
          <p:cNvCxnSpPr>
            <a:cxnSpLocks/>
          </p:cNvCxnSpPr>
          <p:nvPr/>
        </p:nvCxnSpPr>
        <p:spPr>
          <a:xfrm>
            <a:off x="1692511" y="2925807"/>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123EEAC2-71CD-7D80-A69A-2DA6BC6C8C3C}"/>
              </a:ext>
            </a:extLst>
          </p:cNvPr>
          <p:cNvCxnSpPr>
            <a:cxnSpLocks/>
          </p:cNvCxnSpPr>
          <p:nvPr/>
        </p:nvCxnSpPr>
        <p:spPr>
          <a:xfrm>
            <a:off x="1729474" y="3728551"/>
            <a:ext cx="0" cy="272333"/>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417D6B16-51E4-2F09-011A-A07ECD0F8ECD}"/>
              </a:ext>
            </a:extLst>
          </p:cNvPr>
          <p:cNvCxnSpPr>
            <a:stCxn id="16" idx="2"/>
          </p:cNvCxnSpPr>
          <p:nvPr/>
        </p:nvCxnSpPr>
        <p:spPr>
          <a:xfrm flipH="1">
            <a:off x="1729473" y="4723503"/>
            <a:ext cx="1" cy="1410669"/>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2ED62648-EDC4-39A1-0462-54B78327E837}"/>
              </a:ext>
            </a:extLst>
          </p:cNvPr>
          <p:cNvCxnSpPr>
            <a:endCxn id="11" idx="2"/>
          </p:cNvCxnSpPr>
          <p:nvPr/>
        </p:nvCxnSpPr>
        <p:spPr>
          <a:xfrm>
            <a:off x="1729473" y="6134172"/>
            <a:ext cx="374168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122717BA-FB86-B1FF-1CDB-997B3676EB47}"/>
              </a:ext>
            </a:extLst>
          </p:cNvPr>
          <p:cNvCxnSpPr>
            <a:stCxn id="17" idx="2"/>
          </p:cNvCxnSpPr>
          <p:nvPr/>
        </p:nvCxnSpPr>
        <p:spPr>
          <a:xfrm>
            <a:off x="9922043" y="2164931"/>
            <a:ext cx="0" cy="3969241"/>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DFB3F234-F243-FC62-ECCD-E8A97680A7E5}"/>
              </a:ext>
            </a:extLst>
          </p:cNvPr>
          <p:cNvCxnSpPr>
            <a:endCxn id="11" idx="6"/>
          </p:cNvCxnSpPr>
          <p:nvPr/>
        </p:nvCxnSpPr>
        <p:spPr>
          <a:xfrm flipH="1">
            <a:off x="6720840" y="6134172"/>
            <a:ext cx="3201203"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TextBox 47">
            <a:extLst>
              <a:ext uri="{FF2B5EF4-FFF2-40B4-BE49-F238E27FC236}">
                <a16:creationId xmlns:a16="http://schemas.microsoft.com/office/drawing/2014/main" id="{C6B5AA4B-C5CD-B1A9-438E-0DC97D8B5705}"/>
              </a:ext>
            </a:extLst>
          </p:cNvPr>
          <p:cNvSpPr txBox="1"/>
          <p:nvPr/>
        </p:nvSpPr>
        <p:spPr>
          <a:xfrm>
            <a:off x="4764505" y="4358857"/>
            <a:ext cx="611823" cy="369332"/>
          </a:xfrm>
          <a:prstGeom prst="rect">
            <a:avLst/>
          </a:prstGeom>
          <a:noFill/>
        </p:spPr>
        <p:txBody>
          <a:bodyPr wrap="square" rtlCol="0">
            <a:spAutoFit/>
          </a:bodyPr>
          <a:lstStyle/>
          <a:p>
            <a:r>
              <a:rPr lang="en-US" dirty="0"/>
              <a:t>Yes</a:t>
            </a:r>
          </a:p>
        </p:txBody>
      </p:sp>
      <p:sp>
        <p:nvSpPr>
          <p:cNvPr id="49" name="TextBox 48">
            <a:extLst>
              <a:ext uri="{FF2B5EF4-FFF2-40B4-BE49-F238E27FC236}">
                <a16:creationId xmlns:a16="http://schemas.microsoft.com/office/drawing/2014/main" id="{ACF6013E-4E0F-99F7-FED5-EAFF2DC6EEB4}"/>
              </a:ext>
            </a:extLst>
          </p:cNvPr>
          <p:cNvSpPr txBox="1"/>
          <p:nvPr/>
        </p:nvSpPr>
        <p:spPr>
          <a:xfrm>
            <a:off x="6923380" y="4326591"/>
            <a:ext cx="611823" cy="369332"/>
          </a:xfrm>
          <a:prstGeom prst="rect">
            <a:avLst/>
          </a:prstGeom>
          <a:noFill/>
        </p:spPr>
        <p:txBody>
          <a:bodyPr wrap="square" rtlCol="0">
            <a:spAutoFit/>
          </a:bodyPr>
          <a:lstStyle/>
          <a:p>
            <a:r>
              <a:rPr lang="en-US" dirty="0"/>
              <a:t>No</a:t>
            </a:r>
          </a:p>
        </p:txBody>
      </p:sp>
    </p:spTree>
    <p:extLst>
      <p:ext uri="{BB962C8B-B14F-4D97-AF65-F5344CB8AC3E}">
        <p14:creationId xmlns:p14="http://schemas.microsoft.com/office/powerpoint/2010/main" val="1150993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6614F-F755-284E-25A5-127F8006D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1B144-87D4-7656-691F-15B3392984D1}"/>
              </a:ext>
            </a:extLst>
          </p:cNvPr>
          <p:cNvSpPr>
            <a:spLocks noGrp="1"/>
          </p:cNvSpPr>
          <p:nvPr>
            <p:ph type="title"/>
          </p:nvPr>
        </p:nvSpPr>
        <p:spPr>
          <a:xfrm>
            <a:off x="838200" y="20827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FE155FA4-D591-3D40-85F7-5C0DEFEC0333}"/>
              </a:ext>
            </a:extLst>
          </p:cNvPr>
          <p:cNvSpPr txBox="1"/>
          <p:nvPr/>
        </p:nvSpPr>
        <p:spPr>
          <a:xfrm>
            <a:off x="482990" y="1533842"/>
            <a:ext cx="11226019" cy="4832092"/>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This project successfully demonstrates the practical implementation of actuarial mortality analysis using Python. By transforming raw patient data into structured actuarial metrics, the system effectively calculates conditional 3-year death probabilities, analyzes seasonal mortality trends, and constructs a simplified life table. The use of Object-Oriented Programming ensures modularity, clarity, and scalability of the system. Automated Excel reporting and graphical visualization further enhance the usability and professional presentation of results. Although the model uses simplified assumptions, it provides a strong foundation for actuarial risk modeling and can be extended to include advanced statistical techniques, financial modeling, and long-term survival analysis. Overall, this project bridges theoretical actuarial concepts with real-world data processing, demonstrating how computational tools can support mortality risk assessment and insurance-related analysis.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668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B2D5E-B615-B8E7-B26F-66CCB2EE1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050412-EABF-5ABB-C6C1-B9A4EF56467F}"/>
              </a:ext>
            </a:extLst>
          </p:cNvPr>
          <p:cNvSpPr>
            <a:spLocks noGrp="1"/>
          </p:cNvSpPr>
          <p:nvPr>
            <p:ph type="title"/>
          </p:nvPr>
        </p:nvSpPr>
        <p:spPr>
          <a:xfrm>
            <a:off x="838195" y="20827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Screenshots Of The System</a:t>
            </a:r>
          </a:p>
        </p:txBody>
      </p:sp>
      <p:pic>
        <p:nvPicPr>
          <p:cNvPr id="9" name="Picture 8">
            <a:extLst>
              <a:ext uri="{FF2B5EF4-FFF2-40B4-BE49-F238E27FC236}">
                <a16:creationId xmlns:a16="http://schemas.microsoft.com/office/drawing/2014/main" id="{4F1D2A3B-9A1A-F2F2-06A8-17EC5549C9F1}"/>
              </a:ext>
            </a:extLst>
          </p:cNvPr>
          <p:cNvPicPr>
            <a:picLocks noChangeAspect="1"/>
          </p:cNvPicPr>
          <p:nvPr/>
        </p:nvPicPr>
        <p:blipFill>
          <a:blip r:embed="rId2"/>
          <a:stretch>
            <a:fillRect/>
          </a:stretch>
        </p:blipFill>
        <p:spPr>
          <a:xfrm>
            <a:off x="340963" y="1781800"/>
            <a:ext cx="11220773" cy="3294399"/>
          </a:xfrm>
          <a:prstGeom prst="rect">
            <a:avLst/>
          </a:prstGeom>
        </p:spPr>
      </p:pic>
    </p:spTree>
    <p:extLst>
      <p:ext uri="{BB962C8B-B14F-4D97-AF65-F5344CB8AC3E}">
        <p14:creationId xmlns:p14="http://schemas.microsoft.com/office/powerpoint/2010/main" val="1839940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B50D4D-D61B-2882-F0DB-9C25FBC83B43}"/>
              </a:ext>
            </a:extLst>
          </p:cNvPr>
          <p:cNvPicPr>
            <a:picLocks noChangeAspect="1"/>
          </p:cNvPicPr>
          <p:nvPr/>
        </p:nvPicPr>
        <p:blipFill>
          <a:blip r:embed="rId2"/>
          <a:stretch>
            <a:fillRect/>
          </a:stretch>
        </p:blipFill>
        <p:spPr>
          <a:xfrm>
            <a:off x="2518863" y="490127"/>
            <a:ext cx="7154273" cy="5877745"/>
          </a:xfrm>
          <a:prstGeom prst="rect">
            <a:avLst/>
          </a:prstGeom>
        </p:spPr>
      </p:pic>
    </p:spTree>
    <p:extLst>
      <p:ext uri="{BB962C8B-B14F-4D97-AF65-F5344CB8AC3E}">
        <p14:creationId xmlns:p14="http://schemas.microsoft.com/office/powerpoint/2010/main" val="377637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C1E0EA-365A-B807-1878-C28A8F5463EF}"/>
              </a:ext>
            </a:extLst>
          </p:cNvPr>
          <p:cNvPicPr>
            <a:picLocks noChangeAspect="1"/>
          </p:cNvPicPr>
          <p:nvPr/>
        </p:nvPicPr>
        <p:blipFill>
          <a:blip r:embed="rId2"/>
          <a:stretch>
            <a:fillRect/>
          </a:stretch>
        </p:blipFill>
        <p:spPr>
          <a:xfrm>
            <a:off x="2556968" y="299601"/>
            <a:ext cx="7078063" cy="6258798"/>
          </a:xfrm>
          <a:prstGeom prst="rect">
            <a:avLst/>
          </a:prstGeom>
        </p:spPr>
      </p:pic>
    </p:spTree>
    <p:extLst>
      <p:ext uri="{BB962C8B-B14F-4D97-AF65-F5344CB8AC3E}">
        <p14:creationId xmlns:p14="http://schemas.microsoft.com/office/powerpoint/2010/main" val="1528549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8F562A-F324-6DE5-55D5-559FB04F5E85}"/>
              </a:ext>
            </a:extLst>
          </p:cNvPr>
          <p:cNvPicPr>
            <a:picLocks noChangeAspect="1"/>
          </p:cNvPicPr>
          <p:nvPr/>
        </p:nvPicPr>
        <p:blipFill>
          <a:blip r:embed="rId2"/>
          <a:stretch>
            <a:fillRect/>
          </a:stretch>
        </p:blipFill>
        <p:spPr>
          <a:xfrm>
            <a:off x="2252126" y="275785"/>
            <a:ext cx="7687748" cy="6306430"/>
          </a:xfrm>
          <a:prstGeom prst="rect">
            <a:avLst/>
          </a:prstGeom>
        </p:spPr>
      </p:pic>
    </p:spTree>
    <p:extLst>
      <p:ext uri="{BB962C8B-B14F-4D97-AF65-F5344CB8AC3E}">
        <p14:creationId xmlns:p14="http://schemas.microsoft.com/office/powerpoint/2010/main" val="31313946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EEDBC5-BA65-181D-C09A-0FAD044E2418}"/>
              </a:ext>
            </a:extLst>
          </p:cNvPr>
          <p:cNvPicPr>
            <a:picLocks noChangeAspect="1"/>
          </p:cNvPicPr>
          <p:nvPr/>
        </p:nvPicPr>
        <p:blipFill>
          <a:blip r:embed="rId2"/>
          <a:stretch>
            <a:fillRect/>
          </a:stretch>
        </p:blipFill>
        <p:spPr>
          <a:xfrm>
            <a:off x="260888" y="1869837"/>
            <a:ext cx="11670224" cy="3118325"/>
          </a:xfrm>
          <a:prstGeom prst="rect">
            <a:avLst/>
          </a:prstGeom>
        </p:spPr>
      </p:pic>
    </p:spTree>
    <p:extLst>
      <p:ext uri="{BB962C8B-B14F-4D97-AF65-F5344CB8AC3E}">
        <p14:creationId xmlns:p14="http://schemas.microsoft.com/office/powerpoint/2010/main" val="3142525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6B275-F2C3-A8C7-012B-87E00D514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593C0-E475-E524-3FB0-E827D57694A2}"/>
              </a:ext>
            </a:extLst>
          </p:cNvPr>
          <p:cNvSpPr>
            <a:spLocks noGrp="1"/>
          </p:cNvSpPr>
          <p:nvPr>
            <p:ph type="title"/>
          </p:nvPr>
        </p:nvSpPr>
        <p:spPr>
          <a:xfrm>
            <a:off x="838200" y="20827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C0543104-A3F9-6B03-BD8C-331CCACAFE6D}"/>
              </a:ext>
            </a:extLst>
          </p:cNvPr>
          <p:cNvSpPr txBox="1"/>
          <p:nvPr/>
        </p:nvSpPr>
        <p:spPr>
          <a:xfrm>
            <a:off x="482990" y="1533842"/>
            <a:ext cx="11226019" cy="2431435"/>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https://chatgpt.com/</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https://scholar.google.com/</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https://www.deepseek.com/</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https://www.wikipedia.org/</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724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67568-5373-B38C-7140-D72E6D6A196C}"/>
              </a:ext>
            </a:extLst>
          </p:cNvPr>
          <p:cNvSpPr>
            <a:spLocks noGrp="1"/>
          </p:cNvSpPr>
          <p:nvPr>
            <p:ph type="title"/>
          </p:nvPr>
        </p:nvSpPr>
        <p:spPr>
          <a:xfrm>
            <a:off x="838200" y="2766218"/>
            <a:ext cx="10515600" cy="1325563"/>
          </a:xfrm>
        </p:spPr>
        <p:txBody>
          <a:bodyPr>
            <a:normAutofit/>
          </a:bodyPr>
          <a:lstStyle/>
          <a:p>
            <a:pPr algn="ctr"/>
            <a:r>
              <a:rPr lang="en-US" sz="4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621492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752</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Mortality Data Analyzer</vt:lpstr>
      <vt:lpstr>Content</vt:lpstr>
      <vt:lpstr>Introduction</vt:lpstr>
      <vt:lpstr>Problem Statement</vt:lpstr>
      <vt:lpstr>Objectives</vt:lpstr>
      <vt:lpstr>Scope And Limitations</vt:lpstr>
      <vt:lpstr>PowerPoint Presentation</vt:lpstr>
      <vt:lpstr>Implementation Tools and Technologies</vt:lpstr>
      <vt:lpstr>Flowchart</vt:lpstr>
      <vt:lpstr>Conclusion</vt:lpstr>
      <vt:lpstr>Screenshots Of The System</vt:lpstr>
      <vt:lpstr>PowerPoint Presentation</vt:lpstr>
      <vt:lpstr>PowerPoint Presentation</vt:lpstr>
      <vt:lpstr>PowerPoint Presentation</vt:lpstr>
      <vt:lpstr>PowerPoint Presentation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Pradhumna Shrestha</dc:creator>
  <cp:lastModifiedBy>Pradhumna Shrestha</cp:lastModifiedBy>
  <cp:revision>7</cp:revision>
  <dcterms:created xsi:type="dcterms:W3CDTF">2026-02-15T13:52:26Z</dcterms:created>
  <dcterms:modified xsi:type="dcterms:W3CDTF">2026-02-16T08:26:28Z</dcterms:modified>
</cp:coreProperties>
</file>